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8" r:id="rId5"/>
    <p:sldId id="269" r:id="rId6"/>
    <p:sldId id="262" r:id="rId7"/>
    <p:sldId id="263" r:id="rId8"/>
    <p:sldId id="261" r:id="rId9"/>
    <p:sldId id="264" r:id="rId10"/>
    <p:sldId id="265" r:id="rId11"/>
    <p:sldId id="267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6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</p:sldIdLst>
  <p:sldSz cx="12192000" cy="6858000"/>
  <p:notesSz cx="6858000" cy="9144000"/>
  <p:defaultTextStyle>
    <a:defPPr>
      <a:defRPr lang="en-U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0F867EF-6742-4197-8EF3-695B3E3C805C}">
          <p14:sldIdLst>
            <p14:sldId id="256"/>
            <p14:sldId id="258"/>
            <p14:sldId id="260"/>
            <p14:sldId id="268"/>
            <p14:sldId id="269"/>
            <p14:sldId id="262"/>
            <p14:sldId id="263"/>
            <p14:sldId id="261"/>
            <p14:sldId id="264"/>
            <p14:sldId id="265"/>
            <p14:sldId id="267"/>
            <p14:sldId id="270"/>
            <p14:sldId id="271"/>
            <p14:sldId id="272"/>
            <p14:sldId id="273"/>
            <p14:sldId id="274"/>
            <p14:sldId id="275"/>
            <p14:sldId id="276"/>
            <p14:sldId id="26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55" d="100"/>
          <a:sy n="55" d="100"/>
        </p:scale>
        <p:origin x="98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A1958-7727-D130-CDC3-8910A7192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22305E-8F8F-56C0-89F5-602DE89EA5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D3E98-8970-EB21-EF58-EAC530AA6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51ABC-8864-4F77-AE25-18F6DB4E7F43}" type="datetimeFigureOut">
              <a:rPr lang="en-UG" smtClean="0"/>
              <a:t>21/11/2025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F9B0B-8FB1-2FD1-A178-A0CFB87F1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58A6B7-575F-5BBF-D88D-901A40C6E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D01BF-C13E-404B-B147-F89C1E273BD0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364677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F21DD-44F4-CFF4-5E24-6108FB02C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62A67-D26B-251A-0FCC-C49A8DC16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13B118-D425-EC1B-B6CD-EC4BB1A25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51ABC-8864-4F77-AE25-18F6DB4E7F43}" type="datetimeFigureOut">
              <a:rPr lang="en-UG" smtClean="0"/>
              <a:t>21/11/2025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A34A3-9210-600C-97E7-0CB78D5B3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7EA26-D433-6E94-5A65-FEA8C6410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D01BF-C13E-404B-B147-F89C1E273BD0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466551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2A83D-F68C-5866-9782-C5F5D7C0A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02C2B0-5859-59C9-27E0-F41C08F8A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BAFC3-4A3E-7714-A719-0AD1FF482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51ABC-8864-4F77-AE25-18F6DB4E7F43}" type="datetimeFigureOut">
              <a:rPr lang="en-UG" smtClean="0"/>
              <a:t>21/11/2025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CE72BE-319E-A23D-7077-0C245A750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A1BBB-9050-BF93-65CC-5D5AC1FB5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D01BF-C13E-404B-B147-F89C1E273BD0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637518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779A0-B404-0AD2-F235-AFF063A49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3A7D3-EB49-932B-51C9-B1F25FDA3D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2DBC8A-8543-E20D-C63C-B7F1ABB33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CED1DF-C08F-FCB5-9838-F44CB617A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51ABC-8864-4F77-AE25-18F6DB4E7F43}" type="datetimeFigureOut">
              <a:rPr lang="en-UG" smtClean="0"/>
              <a:t>21/11/2025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F3BB83-7E3A-DDF9-DD7D-3B74963CD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A42372-FF70-A0F4-5F67-3EDE46FF4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D01BF-C13E-404B-B147-F89C1E273BD0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285141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E5A47-5F98-005D-A7E2-AFB135726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3B1819-D663-2561-7A74-562A83C601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3CB3F6-75C8-A630-9062-DB4B4672AF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E8C794-404F-5AE7-3605-D8143289A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682261-AD21-70C1-1E23-D553F0FF3A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A8BE3-A4CE-0B46-07A3-FF95BA2E4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51ABC-8864-4F77-AE25-18F6DB4E7F43}" type="datetimeFigureOut">
              <a:rPr lang="en-UG" smtClean="0"/>
              <a:t>21/11/2025</a:t>
            </a:fld>
            <a:endParaRPr lang="en-U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FCAC03-AC56-C6B3-98B6-0492A1E54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8D80AE-7F53-B65D-3DAD-65FD53655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D01BF-C13E-404B-B147-F89C1E273BD0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821657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EB4DF-1BB8-6160-E1D4-CA1EEAD4D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B4D6CC-07DA-8843-A9EE-7D6643ABE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51ABC-8864-4F77-AE25-18F6DB4E7F43}" type="datetimeFigureOut">
              <a:rPr lang="en-UG" smtClean="0"/>
              <a:t>21/11/2025</a:t>
            </a:fld>
            <a:endParaRPr lang="en-U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9A4A09-0306-55A3-A696-BEC157229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8056CD-EC77-46C9-8673-D14F136BE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D01BF-C13E-404B-B147-F89C1E273BD0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085991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498584-E194-5B70-0433-536CDBB33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51ABC-8864-4F77-AE25-18F6DB4E7F43}" type="datetimeFigureOut">
              <a:rPr lang="en-UG" smtClean="0"/>
              <a:t>21/11/2025</a:t>
            </a:fld>
            <a:endParaRPr lang="en-U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7C5F49-ECD8-362B-64DF-501632D91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C090DE-1B3B-25FD-5634-902FD4D6D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D01BF-C13E-404B-B147-F89C1E273BD0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156085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E384C-C8CA-BE88-7F6B-B30D76C39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3BC34-E618-CE1B-37D0-3684AE255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646092-25E5-A706-5DCA-8EBC617132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318A55-C389-AC08-C2CF-7F128E68A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51ABC-8864-4F77-AE25-18F6DB4E7F43}" type="datetimeFigureOut">
              <a:rPr lang="en-UG" smtClean="0"/>
              <a:t>21/11/2025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18F100-AEB1-0F32-268F-6ACD6F24D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34D389-8192-128B-0C7A-7D5D5188F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D01BF-C13E-404B-B147-F89C1E273BD0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000519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7041E-7178-CAF0-C012-23D308871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A7743D-3072-F200-FD9D-D3E813356F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2AEEDD-C807-513A-5D91-6129DEABE1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5C9DF-CFCF-E478-BA4F-42229773F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51ABC-8864-4F77-AE25-18F6DB4E7F43}" type="datetimeFigureOut">
              <a:rPr lang="en-UG" smtClean="0"/>
              <a:t>21/11/2025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BB1FDE-5D4D-0D04-CE9C-16CA5A896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B4BE6C-4077-FFD4-E2A7-8EA1F1988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D01BF-C13E-404B-B147-F89C1E273BD0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990343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60335-42DB-1A53-D726-B31C9E449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A2BE9F-DCF4-3D6F-FA15-46E71712A9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5962B-AD53-61CC-ABFB-29D4D3D32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51ABC-8864-4F77-AE25-18F6DB4E7F43}" type="datetimeFigureOut">
              <a:rPr lang="en-UG" smtClean="0"/>
              <a:t>21/11/2025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0F608-7E09-4B90-8F81-ECB0B4A04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634323-B79B-0602-56ED-AC8EAC391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D01BF-C13E-404B-B147-F89C1E273BD0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879174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511E9A-A972-00D2-F320-D84274AC7F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67BBEF-74F8-BCA5-2522-C878F8F4FE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EBC9D-9CAB-4954-79CD-F2A357B42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51ABC-8864-4F77-AE25-18F6DB4E7F43}" type="datetimeFigureOut">
              <a:rPr lang="en-UG" smtClean="0"/>
              <a:t>21/11/2025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0C593-7A84-AF05-9775-CDEF0A8A6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FFDFD-0BF5-235E-25B7-D3F355304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D01BF-C13E-404B-B147-F89C1E273BD0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693286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81E1BE-0532-8C91-8723-BD1801353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A80FBA-F59F-583D-B30F-205376DFF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F942F-F4AD-520D-EC2F-415C76C9E1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451ABC-8864-4F77-AE25-18F6DB4E7F43}" type="datetimeFigureOut">
              <a:rPr lang="en-UG" smtClean="0"/>
              <a:t>21/11/2025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0EB76D-2693-1340-5B57-8909B6B9A7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89344-FFCC-BDB0-4897-3F458560BC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ED01BF-C13E-404B-B147-F89C1E273BD0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778309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3C700-0C7B-8A4F-1C5B-298DA87586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3965" y="2202791"/>
            <a:ext cx="9144000" cy="1769999"/>
          </a:xfrm>
        </p:spPr>
        <p:txBody>
          <a:bodyPr>
            <a:normAutofit/>
          </a:bodyPr>
          <a:lstStyle/>
          <a:p>
            <a:r>
              <a:rPr lang="en-US" b="1" dirty="0"/>
              <a:t>CLUSTERING </a:t>
            </a:r>
            <a:br>
              <a:rPr lang="en-US" b="1" dirty="0"/>
            </a:br>
            <a:r>
              <a:rPr lang="en-US" sz="4400" dirty="0"/>
              <a:t>UCI Wholesale Customers Dataset </a:t>
            </a:r>
            <a:endParaRPr lang="en-UG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38519F-85D4-DF86-CF86-AE4FB2F22FB7}"/>
              </a:ext>
            </a:extLst>
          </p:cNvPr>
          <p:cNvSpPr txBox="1"/>
          <p:nvPr/>
        </p:nvSpPr>
        <p:spPr>
          <a:xfrm>
            <a:off x="3745500" y="3924188"/>
            <a:ext cx="40408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K-means vs DBSCAN</a:t>
            </a:r>
            <a:endParaRPr lang="en-UG" sz="36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FE9A0F3-663F-D3CB-EF51-0E18C3071B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322355"/>
              </p:ext>
            </p:extLst>
          </p:nvPr>
        </p:nvGraphicFramePr>
        <p:xfrm>
          <a:off x="1926583" y="4699096"/>
          <a:ext cx="8061645" cy="1200173"/>
        </p:xfrm>
        <a:graphic>
          <a:graphicData uri="http://schemas.openxmlformats.org/drawingml/2006/table">
            <a:tbl>
              <a:tblPr/>
              <a:tblGrid>
                <a:gridCol w="2810059">
                  <a:extLst>
                    <a:ext uri="{9D8B030D-6E8A-4147-A177-3AD203B41FA5}">
                      <a16:colId xmlns:a16="http://schemas.microsoft.com/office/drawing/2014/main" val="4234424127"/>
                    </a:ext>
                  </a:extLst>
                </a:gridCol>
                <a:gridCol w="5251586">
                  <a:extLst>
                    <a:ext uri="{9D8B030D-6E8A-4147-A177-3AD203B41FA5}">
                      <a16:colId xmlns:a16="http://schemas.microsoft.com/office/drawing/2014/main" val="3473141048"/>
                    </a:ext>
                  </a:extLst>
                </a:gridCol>
              </a:tblGrid>
              <a:tr h="357016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STUDENTS (GROUP2)</a:t>
                      </a:r>
                      <a:endParaRPr lang="en-UG" sz="2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2886" marR="112886" marT="56443" marB="5644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AINEDEMBE DENIS       2024-M132-23999</a:t>
                      </a:r>
                      <a:endParaRPr lang="en-UG" sz="2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517" marR="11517" marT="115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623798"/>
                  </a:ext>
                </a:extLst>
              </a:tr>
              <a:tr h="486141">
                <a:tc vMerge="1"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G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MUSINGUZI BENSON    2024-M132-23947</a:t>
                      </a:r>
                    </a:p>
                  </a:txBody>
                  <a:tcPr marL="11517" marR="11517" marT="115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328472"/>
                  </a:ext>
                </a:extLst>
              </a:tr>
              <a:tr h="3570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LECTURER </a:t>
                      </a:r>
                      <a:endParaRPr lang="en-UG" sz="2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517" marR="11517" marT="115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Dr. </a:t>
                      </a:r>
                      <a:r>
                        <a:rPr lang="en-CA" sz="2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Sibitenda</a:t>
                      </a:r>
                      <a:r>
                        <a:rPr lang="en-CA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Harriet</a:t>
                      </a:r>
                      <a:endParaRPr lang="en-UG" sz="2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517" marR="11517" marT="115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8814536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134FA84F-DBD1-06EC-740A-A3FE53A1DF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9404" y="465841"/>
            <a:ext cx="2061740" cy="218669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6F32AB4-D3AD-B4CF-2ED4-B849268CD692}"/>
              </a:ext>
            </a:extLst>
          </p:cNvPr>
          <p:cNvSpPr txBox="1"/>
          <p:nvPr/>
        </p:nvSpPr>
        <p:spPr>
          <a:xfrm>
            <a:off x="882570" y="958731"/>
            <a:ext cx="60940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b="1" dirty="0"/>
              <a:t>MASTER OF SCIENCE OF INFORMATION SYSTEMS</a:t>
            </a:r>
          </a:p>
          <a:p>
            <a:r>
              <a:rPr lang="en-UG" dirty="0"/>
              <a:t>INTELLIGENT SYSTEMS</a:t>
            </a:r>
          </a:p>
        </p:txBody>
      </p:sp>
    </p:spTree>
    <p:extLst>
      <p:ext uri="{BB962C8B-B14F-4D97-AF65-F5344CB8AC3E}">
        <p14:creationId xmlns:p14="http://schemas.microsoft.com/office/powerpoint/2010/main" val="1787801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66062-DC6C-9ED3-45EA-3722EB527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</a:t>
            </a:r>
            <a:r>
              <a:rPr lang="en-US" dirty="0"/>
              <a:t> 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F9C44-520A-425F-39A1-53C8D4B1B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comprehensive clustering analysis comparing K-means and DBSCAN algorithms on the UCI Wholesale Customers Dataset. </a:t>
            </a:r>
          </a:p>
          <a:p>
            <a:endParaRPr lang="en-US" dirty="0"/>
          </a:p>
          <a:p>
            <a:r>
              <a:rPr lang="en-US" dirty="0"/>
              <a:t>This activity performs customer segmentation to identify distinct purchasing patterns and provide actionable business insights.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95876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DD4E8-11B0-068B-8FF2-735EF0E39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2C2D3-76CA-B36A-5F66-9ECF14B49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Dataset</a:t>
            </a:r>
            <a:endParaRPr lang="en-U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1D325-FC26-9016-314D-90BC185080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dataset is about clients of a wholesale distributor. It includes the annual spending in monetary units (</a:t>
            </a:r>
            <a:r>
              <a:rPr lang="en-US" dirty="0" err="1"/>
              <a:t>m.u</a:t>
            </a:r>
            <a:r>
              <a:rPr lang="en-US" dirty="0"/>
              <a:t>.) on different product categories:</a:t>
            </a:r>
          </a:p>
          <a:p>
            <a:r>
              <a:rPr lang="en-US" dirty="0"/>
              <a:t>Fresh, Milk, </a:t>
            </a:r>
          </a:p>
          <a:p>
            <a:r>
              <a:rPr lang="en-US" dirty="0"/>
              <a:t>Grocery, Frozen, </a:t>
            </a:r>
          </a:p>
          <a:p>
            <a:r>
              <a:rPr lang="en-US" dirty="0" err="1"/>
              <a:t>Detergents_Paper</a:t>
            </a:r>
            <a:r>
              <a:rPr lang="en-US" dirty="0"/>
              <a:t>, </a:t>
            </a:r>
          </a:p>
          <a:p>
            <a:r>
              <a:rPr lang="en-US" dirty="0" err="1"/>
              <a:t>Delicassen</a:t>
            </a:r>
            <a:r>
              <a:rPr lang="en-US" dirty="0"/>
              <a:t>; </a:t>
            </a:r>
          </a:p>
          <a:p>
            <a:pPr marL="0" indent="0">
              <a:buNone/>
            </a:pPr>
            <a:r>
              <a:rPr lang="en-US" dirty="0"/>
              <a:t>And then</a:t>
            </a:r>
          </a:p>
          <a:p>
            <a:r>
              <a:rPr lang="en-US" dirty="0"/>
              <a:t>Channel/Region information.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522567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4B282-A8C5-3098-38E3-777C6C436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81C25-5416-0204-4FD8-2AE76AD75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525"/>
            <a:ext cx="10515600" cy="64293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Loaded the dataset</a:t>
            </a:r>
            <a:endParaRPr lang="en-U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3A7B76-97CB-7303-11BF-BCFA529839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5" y="1128350"/>
            <a:ext cx="8543925" cy="519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866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4BB52-DB4F-4F9B-27FF-166FAA473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6BB28-E6B0-522E-B1A0-F5117A224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525"/>
            <a:ext cx="10515600" cy="64293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Showing basic Statistics</a:t>
            </a:r>
            <a:endParaRPr lang="en-UG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876787-B55C-B34F-DB1C-D4A277B84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35" y="1033463"/>
            <a:ext cx="8358590" cy="548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035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62AF6-231F-A2C2-CDB1-F16F4F7D2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F6956-3ECD-E901-B8C7-DB878087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Handle missing data &amp; Removing Duplicates </a:t>
            </a:r>
            <a:endParaRPr lang="en-U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3D0E60-9AA4-DB6B-EC9C-C50F27AF4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2060020"/>
            <a:ext cx="5331119" cy="37196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F12B3B5-0288-16D5-E929-41CF96CB1DF6}"/>
              </a:ext>
            </a:extLst>
          </p:cNvPr>
          <p:cNvSpPr txBox="1"/>
          <p:nvPr/>
        </p:nvSpPr>
        <p:spPr>
          <a:xfrm>
            <a:off x="838200" y="1690688"/>
            <a:ext cx="37819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b="1" dirty="0"/>
              <a:t>Handle missing data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F29C915-69E8-C207-A1F5-342FF6F11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322" y="3192515"/>
            <a:ext cx="5118404" cy="145470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5EAA9B2-D370-4F92-30A1-5148B3769F46}"/>
              </a:ext>
            </a:extLst>
          </p:cNvPr>
          <p:cNvSpPr txBox="1"/>
          <p:nvPr/>
        </p:nvSpPr>
        <p:spPr>
          <a:xfrm>
            <a:off x="6505322" y="2700338"/>
            <a:ext cx="37819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Removing exact duplicates</a:t>
            </a:r>
            <a:endParaRPr lang="en-UG" b="1" dirty="0"/>
          </a:p>
        </p:txBody>
      </p:sp>
    </p:spTree>
    <p:extLst>
      <p:ext uri="{BB962C8B-B14F-4D97-AF65-F5344CB8AC3E}">
        <p14:creationId xmlns:p14="http://schemas.microsoft.com/office/powerpoint/2010/main" val="1561826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366A2-31B8-776A-F69C-C0654F585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DB38C-D0F3-A85D-5E1B-6644660ED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Outlier detection using IQR method </a:t>
            </a:r>
            <a:endParaRPr lang="en-UG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E3A779-78F9-B9F2-443C-C5FB46BD7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699" y="1595102"/>
            <a:ext cx="10040751" cy="481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942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4A1AF-506A-B6F0-A6BA-49D7F1D6E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01708-913A-E2B5-10CA-47F3E7BAB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Encode Channel and Region for interpretation </a:t>
            </a:r>
            <a:endParaRPr lang="en-UG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5EE61A1-72D6-2E86-64E4-1C7D0CDE1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662" y="1561802"/>
            <a:ext cx="10031225" cy="426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046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C0273-3112-3E7E-3E27-AC110B63C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BB36E-4C9A-1CD2-5F0E-5455D1E69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Descriptive statistics for spending categories</a:t>
            </a:r>
            <a:endParaRPr lang="en-UG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D9DA4B-2C08-2179-6295-69AAEF60D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811" y="1404525"/>
            <a:ext cx="8358583" cy="492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253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3E538-1C5D-C3F9-A9BA-2CEA0EE55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C73C4-8525-51EB-5426-80B3AD11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5" y="552450"/>
            <a:ext cx="10763250" cy="728663"/>
          </a:xfrm>
        </p:spPr>
        <p:txBody>
          <a:bodyPr/>
          <a:lstStyle/>
          <a:p>
            <a:r>
              <a:rPr lang="en-US" b="1" dirty="0"/>
              <a:t>Spending categories. Outliers and giving counts</a:t>
            </a:r>
            <a:endParaRPr lang="en-UG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829FA6-754C-2788-176A-10D9479963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080" y="1471613"/>
            <a:ext cx="7318332" cy="502471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406C9F-42B0-6B12-431A-3AD45AEC1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9996" y="2562225"/>
            <a:ext cx="4809924" cy="2562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843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800B8-E69C-26D7-B6B1-F556ECDFF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1C0C3-33DF-57E7-23C1-19C2D4F01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5" y="276225"/>
            <a:ext cx="10763250" cy="728663"/>
          </a:xfrm>
        </p:spPr>
        <p:txBody>
          <a:bodyPr/>
          <a:lstStyle/>
          <a:p>
            <a:r>
              <a:rPr lang="en-US" b="1" dirty="0"/>
              <a:t>Log-transform highly skewed spending variables </a:t>
            </a:r>
            <a:endParaRPr lang="en-UG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37DB9C-D065-734F-35DF-A68C3C7D3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5" y="1363352"/>
            <a:ext cx="10458264" cy="25804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3217303-2F17-AB7C-A4E5-A50B4BD4AB2D}"/>
              </a:ext>
            </a:extLst>
          </p:cNvPr>
          <p:cNvSpPr txBox="1"/>
          <p:nvPr/>
        </p:nvSpPr>
        <p:spPr>
          <a:xfrm>
            <a:off x="942975" y="456316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Identify highly skewed variables (|skewness| &gt; 1)</a:t>
            </a:r>
            <a:endParaRPr lang="en-US" dirty="0"/>
          </a:p>
          <a:p>
            <a:endParaRPr lang="en-UG" dirty="0"/>
          </a:p>
          <a:p>
            <a:r>
              <a:rPr lang="en-UG" dirty="0"/>
              <a:t>Log transform highly skewed variables</a:t>
            </a:r>
          </a:p>
        </p:txBody>
      </p:sp>
    </p:spTree>
    <p:extLst>
      <p:ext uri="{BB962C8B-B14F-4D97-AF65-F5344CB8AC3E}">
        <p14:creationId xmlns:p14="http://schemas.microsoft.com/office/powerpoint/2010/main" val="1962583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FF2B3-81E0-A0C4-22B6-110B38BB6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7D248-B277-3706-2EA4-02EA5FF8E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4" y="276225"/>
            <a:ext cx="10963275" cy="7286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Before/ after histograms for log-transformed variables</a:t>
            </a:r>
            <a:endParaRPr lang="en-UG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0B3187-6DC7-DEE9-B9FA-86A629609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4" y="1652493"/>
            <a:ext cx="10855598" cy="335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4715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A8BBA-E96C-F2C0-1AEC-2BD23C3D6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A6F45-A417-C194-0F06-87FFFFFBB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4" y="276225"/>
            <a:ext cx="10963275" cy="7286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Before/ after histograms for log-transformed variables</a:t>
            </a:r>
            <a:endParaRPr lang="en-UG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0D4AC0-F9AF-BA70-F088-CEE62A497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4" y="1476376"/>
            <a:ext cx="10838869" cy="3343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6021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745FC-9668-0E01-F222-01CA599F2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D1398-A0A3-9ED2-D509-D2C3EA715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4" y="276225"/>
            <a:ext cx="10963275" cy="7286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Before/ after histograms for log-transformed variables</a:t>
            </a:r>
            <a:endParaRPr lang="en-UG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0CA1FE-97EF-7F29-5EFD-397E23CA2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066" y="1524000"/>
            <a:ext cx="10603458" cy="326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145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D02DC-AE0D-3088-859F-EF632D96E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8D5FE-F287-73C9-C36B-B0D91F519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4" y="276225"/>
            <a:ext cx="10963275" cy="7286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Before/ after histograms for log-transformed variables</a:t>
            </a:r>
            <a:endParaRPr lang="en-UG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E03E19-01A4-0F61-9D28-D9D220C71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4" y="1533526"/>
            <a:ext cx="10762470" cy="3324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8054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0EA37-6ED7-37AD-C638-972185756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E2808-42D7-FB2E-2750-73C18FD05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4" y="276225"/>
            <a:ext cx="10963275" cy="7286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Before/ after histograms for log-transformed variables</a:t>
            </a:r>
            <a:endParaRPr lang="en-UG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0EC1C2-B6EF-BED3-7214-06C268AF6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718" y="1809750"/>
            <a:ext cx="10626057" cy="3317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8846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18049-736F-D0A4-0F3E-E23EFBC9B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A1B82-FAAE-94B2-5CA4-60022E579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4" y="276225"/>
            <a:ext cx="10963275" cy="7286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Before/ after histograms for log-transformed variables</a:t>
            </a:r>
            <a:endParaRPr lang="en-UG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0EEA74-9A18-0E15-FA58-5B6E76B6E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414" y="1762125"/>
            <a:ext cx="10740161" cy="3329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4862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277BB-7115-F0BE-6A4F-BAFEFCF31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D5F86-1613-35BA-1EC7-72D97F4CD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4" y="276225"/>
            <a:ext cx="10963275" cy="7286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Before/ after histograms for log-transformed variables</a:t>
            </a:r>
            <a:endParaRPr lang="en-UG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7B22BB-DE8C-D2CB-65CD-07FF5EB24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862" y="1193800"/>
            <a:ext cx="9820275" cy="5004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8093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8839F-E7CC-FD20-4F3A-749EE325A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C9148-8553-50CF-69B4-A6A19F5EA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5" y="276225"/>
            <a:ext cx="10763250" cy="728663"/>
          </a:xfrm>
        </p:spPr>
        <p:txBody>
          <a:bodyPr/>
          <a:lstStyle/>
          <a:p>
            <a:r>
              <a:rPr lang="en-US" b="1" dirty="0"/>
              <a:t>Correlation heatmap of spending categories</a:t>
            </a:r>
            <a:endParaRPr lang="en-UG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9BEDE4-902C-40C8-123F-0F27960E6D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375" y="1004888"/>
            <a:ext cx="5807498" cy="530066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A8E84E1-B64F-6C6F-9E75-82D937ACE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7265" y="1185863"/>
            <a:ext cx="4958270" cy="177406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A4ABE56-D93C-52B2-E615-DD52D09DCD76}"/>
              </a:ext>
            </a:extLst>
          </p:cNvPr>
          <p:cNvSpPr txBox="1"/>
          <p:nvPr/>
        </p:nvSpPr>
        <p:spPr>
          <a:xfrm>
            <a:off x="7038975" y="3507611"/>
            <a:ext cx="43624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b="1" dirty="0"/>
              <a:t>Insights:</a:t>
            </a:r>
          </a:p>
          <a:p>
            <a:r>
              <a:rPr lang="en-UG" dirty="0"/>
              <a:t>  • High correlation suggests customers who buy one category also buy the other</a:t>
            </a:r>
            <a:endParaRPr lang="en-US" dirty="0"/>
          </a:p>
          <a:p>
            <a:endParaRPr lang="en-UG" dirty="0"/>
          </a:p>
          <a:p>
            <a:r>
              <a:rPr lang="en-UG" dirty="0"/>
              <a:t>  • This can inform cross-selling strategies and inventory management</a:t>
            </a:r>
          </a:p>
        </p:txBody>
      </p:sp>
    </p:spTree>
    <p:extLst>
      <p:ext uri="{BB962C8B-B14F-4D97-AF65-F5344CB8AC3E}">
        <p14:creationId xmlns:p14="http://schemas.microsoft.com/office/powerpoint/2010/main" val="34093178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F197F-3DFB-C6BD-B5AC-E5C525CEB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05AB0-85E4-717B-56B2-E714BF838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4" y="276225"/>
            <a:ext cx="10963275" cy="728663"/>
          </a:xfrm>
        </p:spPr>
        <p:txBody>
          <a:bodyPr>
            <a:normAutofit/>
          </a:bodyPr>
          <a:lstStyle/>
          <a:p>
            <a:r>
              <a:rPr lang="en-US" b="1" dirty="0"/>
              <a:t>Feature Engineering &amp; Aggregation</a:t>
            </a:r>
            <a:endParaRPr lang="en-UG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B81DA3-9F77-118F-EFB2-296EA8417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1004888"/>
            <a:ext cx="7419975" cy="5307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4983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5FC80-C40A-2509-7212-26F2AD277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3385C-C45D-C8D6-A82B-D8F97A831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4" y="276225"/>
            <a:ext cx="10963275" cy="728663"/>
          </a:xfrm>
        </p:spPr>
        <p:txBody>
          <a:bodyPr>
            <a:normAutofit/>
          </a:bodyPr>
          <a:lstStyle/>
          <a:p>
            <a:r>
              <a:rPr lang="en-US" b="1" dirty="0"/>
              <a:t>Feature Engineering &amp; Aggregation</a:t>
            </a:r>
            <a:endParaRPr lang="en-UG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A87093-FDC1-4854-FD2A-076820A06BCA}"/>
              </a:ext>
            </a:extLst>
          </p:cNvPr>
          <p:cNvSpPr txBox="1"/>
          <p:nvPr/>
        </p:nvSpPr>
        <p:spPr>
          <a:xfrm>
            <a:off x="847725" y="1226463"/>
            <a:ext cx="1064895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G" sz="2200" b="1" dirty="0"/>
              <a:t>Justification for Derived Features: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G" sz="2200" dirty="0" err="1"/>
              <a:t>TotalSpend</a:t>
            </a:r>
            <a:r>
              <a:rPr lang="en-UG" sz="2200" dirty="0"/>
              <a:t>: Captures overall customer value and spending capacity. Essential for segmenting high-value vs low-value customers.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G" sz="22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G" sz="2200" dirty="0" err="1"/>
              <a:t>ProportionFresh</a:t>
            </a:r>
            <a:r>
              <a:rPr lang="en-UG" sz="2200" dirty="0"/>
              <a:t>: Reveals customer preference for fresh vs processed products. Helps identify customer segments with different product preferences.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G" sz="22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G" sz="2200" dirty="0" err="1"/>
              <a:t>LogTotalSpend</a:t>
            </a:r>
            <a:r>
              <a:rPr lang="en-UG" sz="2200" dirty="0"/>
              <a:t>: Normalizes the highly skewed total spending distribution, making it more suitable for clustering algorithms that assume normal distributions.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G" sz="22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G" sz="2200" dirty="0" err="1"/>
              <a:t>GroceryMilkRatio</a:t>
            </a:r>
            <a:r>
              <a:rPr lang="en-UG" sz="2200" dirty="0"/>
              <a:t>: Identifies customers who prefer grocery items over milk products, useful for product mix optimization.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G" sz="22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G" sz="2200" dirty="0" err="1"/>
              <a:t>NonFreshProportion</a:t>
            </a:r>
            <a:r>
              <a:rPr lang="en-UG" sz="2200" dirty="0"/>
              <a:t>: Complements </a:t>
            </a:r>
            <a:r>
              <a:rPr lang="en-UG" sz="2200" dirty="0" err="1"/>
              <a:t>ProportionFresh</a:t>
            </a:r>
            <a:r>
              <a:rPr lang="en-UG" sz="2200" dirty="0"/>
              <a:t> by focusing on processed/frozen products, important for supply chain planning</a:t>
            </a:r>
          </a:p>
        </p:txBody>
      </p:sp>
    </p:spTree>
    <p:extLst>
      <p:ext uri="{BB962C8B-B14F-4D97-AF65-F5344CB8AC3E}">
        <p14:creationId xmlns:p14="http://schemas.microsoft.com/office/powerpoint/2010/main" val="23340869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39D00-4C41-81B7-6A90-6004265DE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9F884-CEC1-648F-C800-E3E51F458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276225"/>
            <a:ext cx="10620376" cy="728663"/>
          </a:xfrm>
        </p:spPr>
        <p:txBody>
          <a:bodyPr>
            <a:normAutofit/>
          </a:bodyPr>
          <a:lstStyle/>
          <a:p>
            <a:r>
              <a:rPr lang="en-US" b="1" dirty="0"/>
              <a:t>K-means Clustering</a:t>
            </a:r>
            <a:endParaRPr lang="en-UG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9BFD58-991B-7604-11E0-F1EE24112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298" y="1114201"/>
            <a:ext cx="8844352" cy="5079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1423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FBA24-5589-1083-53D6-EC6E3DA4A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4FBD9-3F0E-6F86-E2D9-229870897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190500"/>
            <a:ext cx="10620376" cy="728663"/>
          </a:xfrm>
        </p:spPr>
        <p:txBody>
          <a:bodyPr>
            <a:normAutofit/>
          </a:bodyPr>
          <a:lstStyle/>
          <a:p>
            <a:r>
              <a:rPr lang="en-US" b="1" dirty="0"/>
              <a:t>K-means evaluation metrics</a:t>
            </a:r>
            <a:endParaRPr lang="en-UG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BBC25A-FEAE-CFF2-C492-817D9577E8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375" y="919163"/>
            <a:ext cx="11323876" cy="325980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6DDA73-08AE-E687-B8EB-86E6C7EC4F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46" y="4262278"/>
            <a:ext cx="6624953" cy="227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4946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95D86-B307-7D92-86DB-B149198D0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C425C-6EEB-0F04-EFFF-0AA72F246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190500"/>
            <a:ext cx="10620376" cy="7286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DBSCAN Clustering: k-distance plot to choose eps</a:t>
            </a:r>
            <a:endParaRPr lang="en-UG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9EFAD2-D039-46AE-BF18-044293486F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61" y="919163"/>
            <a:ext cx="10872238" cy="539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1786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69412-5B23-152F-02E6-844B2C4D1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ABADE-45A5-B16B-F05E-2819E03ED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960" y="280060"/>
            <a:ext cx="10620376" cy="7286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DBSCAN Clustering: k-distance plot to choose eps</a:t>
            </a:r>
            <a:endParaRPr lang="en-UG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BC3A5E-3EB2-69BD-78EF-F15B5B0D8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022" y="1229035"/>
            <a:ext cx="8052665" cy="4880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280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C308B-AEB2-BE57-84BD-5697A0869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F3809-8BCA-4AD4-2903-543B8781C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960" y="280060"/>
            <a:ext cx="10620376" cy="728663"/>
          </a:xfrm>
        </p:spPr>
        <p:txBody>
          <a:bodyPr>
            <a:normAutofit/>
          </a:bodyPr>
          <a:lstStyle/>
          <a:p>
            <a:r>
              <a:rPr lang="en-US" b="1" dirty="0"/>
              <a:t>DBSCAN Results for Different Parameters</a:t>
            </a:r>
            <a:endParaRPr lang="en-UG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B345F3-6FDF-DE5F-3BAB-DB6EF307F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806" y="1008723"/>
            <a:ext cx="4982270" cy="5534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6671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DA151-BCE6-8937-122B-8577CDD1F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03080-CD7D-EF66-8FD9-1C0D6BDC0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079" y="465255"/>
            <a:ext cx="10620376" cy="728663"/>
          </a:xfrm>
        </p:spPr>
        <p:txBody>
          <a:bodyPr>
            <a:normAutofit/>
          </a:bodyPr>
          <a:lstStyle/>
          <a:p>
            <a:r>
              <a:rPr lang="en-US" b="1" dirty="0"/>
              <a:t>DBSCAN parameter sensitivity</a:t>
            </a:r>
            <a:endParaRPr lang="en-UG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085D0D-7BD9-9266-8D22-04A4547A99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079" y="1323354"/>
            <a:ext cx="11257841" cy="448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7652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B929D-6BA1-388C-F897-F24D33E3B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144C4-5ED5-BF7A-A0E1-8CDD80F5D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572" y="453680"/>
            <a:ext cx="9058886" cy="728663"/>
          </a:xfrm>
        </p:spPr>
        <p:txBody>
          <a:bodyPr>
            <a:normAutofit/>
          </a:bodyPr>
          <a:lstStyle/>
          <a:p>
            <a:r>
              <a:rPr lang="en-US" b="1" dirty="0"/>
              <a:t>DBSCAN parameter sensitivity</a:t>
            </a:r>
            <a:endParaRPr lang="en-UG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8EDB40-DB05-0943-7BE0-78A91E203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468" y="1269902"/>
            <a:ext cx="6539696" cy="4931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6524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D2A34-9519-5553-A1A8-1077D6B61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13C4D-EC18-4D10-681E-ED391FB44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572" y="453680"/>
            <a:ext cx="9058886" cy="728663"/>
          </a:xfrm>
        </p:spPr>
        <p:txBody>
          <a:bodyPr>
            <a:normAutofit/>
          </a:bodyPr>
          <a:lstStyle/>
          <a:p>
            <a:r>
              <a:rPr lang="en-US" b="1" dirty="0"/>
              <a:t>Second EDA &amp; Statistical Inference</a:t>
            </a:r>
            <a:endParaRPr lang="en-UG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C10185-57BF-38C4-E8E9-1647A5792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572" y="1695012"/>
            <a:ext cx="8495818" cy="45474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2B9580C-0F26-74EB-4FC8-DE3578C76175}"/>
              </a:ext>
            </a:extLst>
          </p:cNvPr>
          <p:cNvSpPr txBox="1"/>
          <p:nvPr/>
        </p:nvSpPr>
        <p:spPr>
          <a:xfrm>
            <a:off x="1018572" y="1325680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K-means Cluster Centroids (Original Units)</a:t>
            </a:r>
          </a:p>
        </p:txBody>
      </p:sp>
    </p:spTree>
    <p:extLst>
      <p:ext uri="{BB962C8B-B14F-4D97-AF65-F5344CB8AC3E}">
        <p14:creationId xmlns:p14="http://schemas.microsoft.com/office/powerpoint/2010/main" val="13129751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CC0EC-74AD-BE12-555D-C494D44F9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A1240-6343-D150-C38C-15AE7BAB6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572" y="453680"/>
            <a:ext cx="9058886" cy="728663"/>
          </a:xfrm>
        </p:spPr>
        <p:txBody>
          <a:bodyPr>
            <a:normAutofit/>
          </a:bodyPr>
          <a:lstStyle/>
          <a:p>
            <a:r>
              <a:rPr lang="en-US" b="1" dirty="0"/>
              <a:t>Second EDA &amp; Statistical Inference</a:t>
            </a:r>
            <a:endParaRPr lang="en-UG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15B70B-85C3-81EC-BB46-F34368AC385B}"/>
              </a:ext>
            </a:extLst>
          </p:cNvPr>
          <p:cNvSpPr txBox="1"/>
          <p:nvPr/>
        </p:nvSpPr>
        <p:spPr>
          <a:xfrm>
            <a:off x="1018572" y="1325680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DBSCAN</a:t>
            </a:r>
            <a:r>
              <a:rPr lang="en-UG" dirty="0"/>
              <a:t> Cluster </a:t>
            </a:r>
            <a:r>
              <a:rPr lang="en-US" dirty="0"/>
              <a:t>Medoids</a:t>
            </a:r>
            <a:r>
              <a:rPr lang="en-UG" dirty="0"/>
              <a:t> (Original Units)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192EDF-8D14-87D7-4701-2EB0D89F4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024" y="1838349"/>
            <a:ext cx="7227472" cy="4390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1594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526D3-EA94-EFFD-C585-DD128E42F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E33EA-35F5-E5DC-3FCD-E5D70BA7B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585" y="118013"/>
            <a:ext cx="11042248" cy="728663"/>
          </a:xfrm>
        </p:spPr>
        <p:txBody>
          <a:bodyPr>
            <a:normAutofit/>
          </a:bodyPr>
          <a:lstStyle/>
          <a:p>
            <a:r>
              <a:rPr lang="en-US" b="1" dirty="0"/>
              <a:t>Differences in </a:t>
            </a:r>
            <a:r>
              <a:rPr lang="en-US" b="1" dirty="0" err="1"/>
              <a:t>TotalSpend</a:t>
            </a:r>
            <a:r>
              <a:rPr lang="en-US" b="1" dirty="0"/>
              <a:t> across Clusters</a:t>
            </a:r>
            <a:endParaRPr lang="en-UG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E0A0C8-A848-B20F-5302-DFDE899B3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731" y="846676"/>
            <a:ext cx="7942006" cy="556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6207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99534-EA6C-22F0-782B-44CDE0232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B286D-E49A-8A2D-6C63-1500432F0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3336" y="1692169"/>
            <a:ext cx="2237773" cy="728663"/>
          </a:xfrm>
        </p:spPr>
        <p:txBody>
          <a:bodyPr>
            <a:normAutofit/>
          </a:bodyPr>
          <a:lstStyle/>
          <a:p>
            <a:r>
              <a:rPr lang="en-US" b="1" dirty="0"/>
              <a:t>THE END</a:t>
            </a:r>
            <a:endParaRPr lang="en-UG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6D162BB-205F-9100-551B-18368E6740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720696"/>
              </p:ext>
            </p:extLst>
          </p:nvPr>
        </p:nvGraphicFramePr>
        <p:xfrm>
          <a:off x="829519" y="2999172"/>
          <a:ext cx="10532962" cy="2475653"/>
        </p:xfrm>
        <a:graphic>
          <a:graphicData uri="http://schemas.openxmlformats.org/drawingml/2006/table">
            <a:tbl>
              <a:tblPr/>
              <a:tblGrid>
                <a:gridCol w="1620455">
                  <a:extLst>
                    <a:ext uri="{9D8B030D-6E8A-4147-A177-3AD203B41FA5}">
                      <a16:colId xmlns:a16="http://schemas.microsoft.com/office/drawing/2014/main" val="1810663039"/>
                    </a:ext>
                  </a:extLst>
                </a:gridCol>
                <a:gridCol w="8912507">
                  <a:extLst>
                    <a:ext uri="{9D8B030D-6E8A-4147-A177-3AD203B41FA5}">
                      <a16:colId xmlns:a16="http://schemas.microsoft.com/office/drawing/2014/main" val="3389121005"/>
                    </a:ext>
                  </a:extLst>
                </a:gridCol>
              </a:tblGrid>
              <a:tr h="920171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STUDENTS</a:t>
                      </a:r>
                      <a:endParaRPr lang="en-UG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3741" marR="113741" marT="56870" marB="568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AINEDEMBE DENIS</a:t>
                      </a:r>
                      <a:br>
                        <a:rPr lang="en-CA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CA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+256 788-674576 dembedenisjb@gmail.com, ainedembe.denis@stud.umu.ac.ug</a:t>
                      </a:r>
                      <a:endParaRPr lang="en-UG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0247" marR="10247" marT="102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2581867"/>
                  </a:ext>
                </a:extLst>
              </a:tr>
              <a:tr h="920171">
                <a:tc vMerge="1"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G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MUSINGUZI BENSON</a:t>
                      </a:r>
                      <a:br>
                        <a:rPr lang="en-UG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G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+256 782 942245, musiben@gmail.com, musinguzi.benson@stud.umu.ac.ug</a:t>
                      </a:r>
                    </a:p>
                  </a:txBody>
                  <a:tcPr marL="10247" marR="10247" marT="102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7176790"/>
                  </a:ext>
                </a:extLst>
              </a:tr>
              <a:tr h="63531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LECTURER </a:t>
                      </a:r>
                      <a:endParaRPr lang="en-UG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0247" marR="10247" marT="102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Dr. </a:t>
                      </a:r>
                      <a:r>
                        <a:rPr lang="en-CA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Sibitenda</a:t>
                      </a:r>
                      <a:r>
                        <a:rPr lang="en-CA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Harriet</a:t>
                      </a:r>
                      <a:br>
                        <a:rPr lang="en-CA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CA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+256 777 056581 hsibitenda@umu.ac.ug</a:t>
                      </a:r>
                      <a:endParaRPr lang="en-UG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0247" marR="10247" marT="102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95549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6561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493</Words>
  <Application>Microsoft Office PowerPoint</Application>
  <PresentationFormat>Widescreen</PresentationFormat>
  <Paragraphs>76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Calibri Light</vt:lpstr>
      <vt:lpstr>Times New Roman</vt:lpstr>
      <vt:lpstr>Office Theme</vt:lpstr>
      <vt:lpstr>CLUSTERING  UCI Wholesale Customers Dataset </vt:lpstr>
      <vt:lpstr>Objective </vt:lpstr>
      <vt:lpstr>Dataset</vt:lpstr>
      <vt:lpstr>Loaded the dataset</vt:lpstr>
      <vt:lpstr>Showing basic Statistics</vt:lpstr>
      <vt:lpstr>Handle missing data &amp; Removing Duplicates </vt:lpstr>
      <vt:lpstr>Outlier detection using IQR method </vt:lpstr>
      <vt:lpstr>Encode Channel and Region for interpretation </vt:lpstr>
      <vt:lpstr>Descriptive statistics for spending categories</vt:lpstr>
      <vt:lpstr>Spending categories. Outliers and giving counts</vt:lpstr>
      <vt:lpstr>Log-transform highly skewed spending variables </vt:lpstr>
      <vt:lpstr>Before/ after histograms for log-transformed variables</vt:lpstr>
      <vt:lpstr>Before/ after histograms for log-transformed variables</vt:lpstr>
      <vt:lpstr>Before/ after histograms for log-transformed variables</vt:lpstr>
      <vt:lpstr>Before/ after histograms for log-transformed variables</vt:lpstr>
      <vt:lpstr>Before/ after histograms for log-transformed variables</vt:lpstr>
      <vt:lpstr>Before/ after histograms for log-transformed variables</vt:lpstr>
      <vt:lpstr>Before/ after histograms for log-transformed variables</vt:lpstr>
      <vt:lpstr>Correlation heatmap of spending categories</vt:lpstr>
      <vt:lpstr>Feature Engineering &amp; Aggregation</vt:lpstr>
      <vt:lpstr>Feature Engineering &amp; Aggregation</vt:lpstr>
      <vt:lpstr>K-means Clustering</vt:lpstr>
      <vt:lpstr>K-means evaluation metrics</vt:lpstr>
      <vt:lpstr>DBSCAN Clustering: k-distance plot to choose eps</vt:lpstr>
      <vt:lpstr>DBSCAN Clustering: k-distance plot to choose eps</vt:lpstr>
      <vt:lpstr>DBSCAN Results for Different Parameters</vt:lpstr>
      <vt:lpstr>DBSCAN parameter sensitivity</vt:lpstr>
      <vt:lpstr>DBSCAN parameter sensitivity</vt:lpstr>
      <vt:lpstr>Second EDA &amp; Statistical Inference</vt:lpstr>
      <vt:lpstr>Second EDA &amp; Statistical Inference</vt:lpstr>
      <vt:lpstr>Differences in TotalSpend across Clusters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Ainedembe Denis</dc:creator>
  <cp:lastModifiedBy>Ainedembe Denis</cp:lastModifiedBy>
  <cp:revision>66</cp:revision>
  <dcterms:created xsi:type="dcterms:W3CDTF">2025-11-15T08:39:59Z</dcterms:created>
  <dcterms:modified xsi:type="dcterms:W3CDTF">2025-11-21T06:20:30Z</dcterms:modified>
</cp:coreProperties>
</file>